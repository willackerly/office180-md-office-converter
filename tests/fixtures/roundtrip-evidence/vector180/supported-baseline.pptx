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heme/theme1.xml" ContentType="application/vnd.openxmlformats-officedocument.them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  <Relationship Id="rId4" Type="http://schemas.openxmlformats.org/officeDocument/2006/relationships/custom-properties" Target="docProps/custom.xml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2"/>
  </p:sldMasterIdLst>
  <p:sldIdLst>
    <p:sldId id="48142607" r:id="rId1"/>
  </p:sldIdLst>
  <p:sldSz cx="12192000" cy="6858000" type="screen16x9"/>
  <p:notesSz cx="6858000" cy="12192000"/>
  <p:defaultTextStyle/>
</p:presentation>
</file>

<file path=ppt/presProps.xml><?xml version="1.0" encoding="utf-8"?>
<p:presentationPr xmlns:p="http://schemas.openxmlformats.org/presentationml/2006/main"/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" Target="slides/slide1.xml"/>
  <Relationship Id="rId2" Type="http://schemas.openxmlformats.org/officeDocument/2006/relationships/slideMaster" Target="slideMasters/slideMaster1.xml"/>
  <Relationship Id="rId3" Type="http://schemas.openxmlformats.org/officeDocument/2006/relationships/theme" Target="theme/theme1.xml"/>
  <Relationship Id="rId4" Type="http://schemas.openxmlformats.org/officeDocument/2006/relationships/presProps" Target="presProps.xml"/>
</Relationships>
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theme" Target="../theme/theme1.xml"/>
  <Relationship Id="rId2" Type="http://schemas.openxmlformats.org/officeDocument/2006/relationships/slideLayout" Target="../slideLayouts/slideLayout1.xml"/>
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Vector180 Blank 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  <p:txStyles>
    <p:titleStyle/>
    <p:bodyStyle/>
    <p:otherStyle/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rc.supported-roundtrip">
    <p:spTree>
      <p:nvGrpSpPr>
        <p:cNvPr id="1" name=""/>
        <p:cNvGrpSpPr/>
        <p:nvPr/>
      </p:nvGrpSpPr>
      <p:grpSpPr/>
      <p:sp>
        <p:nvSpPr>
          <p:cNvPr id="1623810520" name="src.roundtrip.background"/>
          <p:cNvSpPr/>
          <p:nvPr/>
        </p:nvSpPr>
        <p:spPr>
          <a:xfrm>
            <a:off x="1524000" y="0"/>
            <a:ext cx="9144000" cy="6858000"/>
          </a:xfrm>
          <a:prstGeom prst="rect">
            <a:avLst/>
          </a:prstGeom>
          <a:solidFill>
            <a:srgbClr val="F8FAFC"/>
          </a:solidFill>
          <a:ln w="0">
            <a:noFill/>
          </a:ln>
        </p:spPr>
      </p:sp>
      <p:sp>
        <p:nvSpPr>
          <p:cNvPr id="1156357276" name="src.roundtrip.title"/>
          <p:cNvSpPr txBox="1"/>
          <p:nvPr/>
        </p:nvSpPr>
        <p:spPr>
          <a:xfrm>
            <a:off x="2152650" y="480060"/>
            <a:ext cx="7886700" cy="8001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ctr" marL="0" marR="0" indent="0">
              <a:lnSpc>
                <a:spcPts val="41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60" b="0" i="0" dirty="0">
                <a:ln w="0">
                  <a:noFill/>
                </a:ln>
                <a:solidFill>
                  <a:srgbClr val="0F172A"/>
                </a:solidFill>
                <a:latin typeface="ABeeZee"/>
                <a:ea typeface="ABeeZee"/>
                <a:cs typeface="ABeeZee"/>
              </a:rPr>
              <a:t>SOURCE ROUND TRIP</a:t>
            </a:r>
            <a:endParaRPr lang="en-US" sz="3060" b="0" i="0" dirty="0">
              <a:ln w="0">
                <a:noFill/>
              </a:ln>
              <a:solidFill>
                <a:srgbClr val="0F172A"/>
              </a:solidFill>
              <a:latin typeface="ABeeZee"/>
              <a:ea typeface="ABeeZee"/>
              <a:cs typeface="ABeeZee"/>
            </a:endParaRPr>
          </a:p>
        </p:txBody>
      </p:sp>
      <p:sp>
        <p:nvSpPr>
          <p:cNvPr id="467999118" name="src.roundtrip.subtitle"/>
          <p:cNvSpPr txBox="1"/>
          <p:nvPr/>
        </p:nvSpPr>
        <p:spPr>
          <a:xfrm>
            <a:off x="2781300" y="1325880"/>
            <a:ext cx="6629400" cy="4800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ctr" marL="0" marR="0" indent="0"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20" b="0" i="0" dirty="0">
                <a:ln w="0">
                  <a:noFill/>
                </a:ln>
                <a:solidFill>
                  <a:srgbClr val="475569"/>
                </a:solidFill>
                <a:latin typeface="ABeeZee"/>
                <a:ea typeface="ABeeZee"/>
                <a:cs typeface="ABeeZee"/>
              </a:rPr>
              <a:t>One canonical atom, one reviewable semantic patch</a:t>
            </a:r>
            <a:endParaRPr lang="en-US" sz="1620" b="0" i="0" dirty="0">
              <a:ln w="0">
                <a:noFill/>
              </a:ln>
              <a:solidFill>
                <a:srgbClr val="475569"/>
              </a:solidFill>
              <a:latin typeface="ABeeZee"/>
              <a:ea typeface="ABeeZee"/>
              <a:cs typeface="ABeeZee"/>
            </a:endParaRPr>
          </a:p>
        </p:txBody>
      </p:sp>
      <p:sp>
        <p:nvSpPr>
          <p:cNvPr id="728589742" name="src.roundtrip.card"/>
          <p:cNvSpPr/>
          <p:nvPr/>
        </p:nvSpPr>
        <p:spPr>
          <a:xfrm>
            <a:off x="2324100" y="2171700"/>
            <a:ext cx="3543300" cy="2628900"/>
          </a:xfrm>
          <a:prstGeom prst="rect">
            <a:avLst/>
          </a:prstGeom>
          <a:solidFill>
            <a:srgbClr val="DBEAFE"/>
          </a:solidFill>
          <a:ln w="34290">
            <a:solidFill>
              <a:srgbClr val="2563EB"/>
            </a:solidFill>
          </a:ln>
        </p:spPr>
      </p:sp>
      <p:sp>
        <p:nvSpPr>
          <p:cNvPr id="597250734" name="src.roundtrip.card.label"/>
          <p:cNvSpPr txBox="1"/>
          <p:nvPr/>
        </p:nvSpPr>
        <p:spPr>
          <a:xfrm>
            <a:off x="2667000" y="2571750"/>
            <a:ext cx="2857500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ctr" marL="0" marR="0" indent="0">
              <a:lnSpc>
                <a:spcPts val="27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80" b="0" i="0" dirty="0">
                <a:ln w="0">
                  <a:noFill/>
                </a:ln>
                <a:solidFill>
                  <a:srgbClr val="1E3A8A"/>
                </a:solidFill>
                <a:latin typeface="ABeeZee"/>
                <a:ea typeface="ABeeZee"/>
                <a:cs typeface="ABeeZee"/>
              </a:rPr>
              <a:t>Canonical source</a:t>
            </a:r>
            <a:endParaRPr lang="en-US" sz="1980" b="0" i="0" dirty="0">
              <a:ln w="0">
                <a:noFill/>
              </a:ln>
              <a:solidFill>
                <a:srgbClr val="1E3A8A"/>
              </a:solidFill>
              <a:latin typeface="ABeeZee"/>
              <a:ea typeface="ABeeZee"/>
              <a:cs typeface="ABeeZee"/>
            </a:endParaRPr>
          </a:p>
        </p:txBody>
      </p:sp>
      <p:sp>
        <p:nvSpPr>
          <p:cNvPr id="707430281" name="src.roundtrip.card.detail"/>
          <p:cNvSpPr txBox="1"/>
          <p:nvPr/>
        </p:nvSpPr>
        <p:spPr>
          <a:xfrm>
            <a:off x="2575560" y="3451860"/>
            <a:ext cx="3040380" cy="5257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ctr" marL="0" marR="0" indent="0">
              <a:lnSpc>
                <a:spcPts val="23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30" b="0" i="0" dirty="0">
                <a:ln w="0">
                  <a:noFill/>
                </a:ln>
                <a:solidFill>
                  <a:srgbClr val="334155"/>
                </a:solidFill>
                <a:latin typeface="ABeeZee"/>
                <a:ea typeface="ABeeZee"/>
                <a:cs typeface="ABeeZee"/>
              </a:rPr>
              <a:t>Text + geometry + style</a:t>
            </a:r>
            <a:endParaRPr lang="en-US" sz="1530" b="0" i="0" dirty="0">
              <a:ln w="0">
                <a:noFill/>
              </a:ln>
              <a:solidFill>
                <a:srgbClr val="334155"/>
              </a:solidFill>
              <a:latin typeface="ABeeZee"/>
              <a:ea typeface="ABeeZee"/>
              <a:cs typeface="ABeeZee"/>
            </a:endParaRPr>
          </a:p>
        </p:txBody>
      </p:sp>
      <p:cxnSp>
        <p:nvCxnSpPr>
          <p:cNvPr id="948681459" name="src.roundtrip.connector"/>
          <p:cNvCxnSpPr/>
          <p:nvPr/>
        </p:nvCxnSpPr>
        <p:spPr>
          <a:xfrm>
            <a:off x="5867400" y="3486150"/>
            <a:ext cx="1543050" cy="0"/>
          </a:xfrm>
          <a:prstGeom prst="line">
            <a:avLst/>
          </a:prstGeom>
          <a:ln w="45720">
            <a:solidFill>
              <a:srgbClr val="64748B"/>
            </a:solidFill>
          </a:ln>
        </p:spPr>
      </p:cxnSp>
      <p:sp>
        <p:nvSpPr>
          <p:cNvPr id="276331801" name="src.roundtrip.result"/>
          <p:cNvSpPr/>
          <p:nvPr/>
        </p:nvSpPr>
        <p:spPr>
          <a:xfrm>
            <a:off x="7410450" y="2480310"/>
            <a:ext cx="2400300" cy="2011680"/>
          </a:xfrm>
          <a:prstGeom prst="ellipse">
            <a:avLst/>
          </a:prstGeom>
          <a:solidFill>
            <a:srgbClr val="EDE9FE"/>
          </a:solidFill>
          <a:ln w="34290">
            <a:solidFill>
              <a:srgbClr val="7C3AED"/>
            </a:solidFill>
          </a:ln>
        </p:spPr>
      </p:sp>
      <p:sp>
        <p:nvSpPr>
          <p:cNvPr id="153034549" name="src.roundtrip.result.label"/>
          <p:cNvSpPr txBox="1"/>
          <p:nvPr/>
        </p:nvSpPr>
        <p:spPr>
          <a:xfrm>
            <a:off x="7696200" y="3086100"/>
            <a:ext cx="1828800" cy="6629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ctr" marL="0" marR="0" indent="0">
              <a:lnSpc>
                <a:spcPts val="27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80" b="0" i="0" dirty="0">
                <a:ln w="0">
                  <a:noFill/>
                </a:ln>
                <a:solidFill>
                  <a:srgbClr val="4C1D95"/>
                </a:solidFill>
                <a:latin typeface="ABeeZee"/>
                <a:ea typeface="ABeeZee"/>
                <a:cs typeface="ABeeZee"/>
              </a:rPr>
              <a:t>Recovered</a:t>
            </a:r>
            <a:endParaRPr lang="en-US" sz="1980" b="0" i="0" dirty="0">
              <a:ln w="0">
                <a:noFill/>
              </a:ln>
              <a:solidFill>
                <a:srgbClr val="4C1D95"/>
              </a:solidFill>
              <a:latin typeface="ABeeZee"/>
              <a:ea typeface="ABeeZee"/>
              <a:cs typeface="ABeeZee"/>
            </a:endParaRPr>
          </a:p>
        </p:txBody>
      </p:sp>
      <p:sp>
        <p:nvSpPr>
          <p:cNvPr id="1595696523" name="src.roundtrip.footer"/>
          <p:cNvSpPr/>
          <p:nvPr/>
        </p:nvSpPr>
        <p:spPr>
          <a:xfrm>
            <a:off x="2552700" y="5715000"/>
            <a:ext cx="7086600" cy="617220"/>
          </a:xfrm>
          <a:prstGeom prst="rect">
            <a:avLst/>
          </a:prstGeom>
          <a:solidFill>
            <a:srgbClr val="E2E8F0"/>
          </a:solidFill>
          <a:ln w="22860">
            <a:solidFill>
              <a:srgbClr val="94A3B8"/>
            </a:solidFill>
          </a:ln>
        </p:spPr>
      </p:sp>
      <p:sp>
        <p:nvSpPr>
          <p:cNvPr id="1157180065" name="src.roundtrip.footer.label"/>
          <p:cNvSpPr txBox="1"/>
          <p:nvPr/>
        </p:nvSpPr>
        <p:spPr>
          <a:xfrm>
            <a:off x="2895600" y="5806440"/>
            <a:ext cx="6400800" cy="4343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ctr" marL="0" marR="0" indent="0">
              <a:lnSpc>
                <a:spcPts val="22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40" b="0" i="0" dirty="0">
                <a:ln w="0">
                  <a:noFill/>
                </a:ln>
                <a:solidFill>
                  <a:srgbClr val="334155"/>
                </a:solidFill>
                <a:latin typeface="ABeeZee"/>
                <a:ea typeface="ABeeZee"/>
                <a:cs typeface="ABeeZee"/>
              </a:rPr>
              <a:t>C9 baseline / C10 patch / C9 regenerate</a:t>
            </a:r>
            <a:endParaRPr lang="en-US" sz="1440" b="0" i="0" dirty="0">
              <a:ln w="0">
                <a:noFill/>
              </a:ln>
              <a:solidFill>
                <a:srgbClr val="334155"/>
              </a:solidFill>
              <a:latin typeface="ABeeZee"/>
              <a:ea typeface="ABeeZee"/>
              <a:cs typeface="ABeeZee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Vector180 Canary">
  <a:themeElements>
    <a:clrScheme name="Vector180 Canary">
      <a:dk1>
        <a:srgbClr val="000000"/>
      </a:dk1>
      <a:lt1>
        <a:srgbClr val="FFFFFF"/>
      </a:lt1>
      <a:dk2>
        <a:srgbClr val="17211E"/>
      </a:dk2>
      <a:lt2>
        <a:srgbClr val="F4F6F5"/>
      </a:lt2>
      <a:accent1>
        <a:srgbClr val="3D7A6A"/>
      </a:accent1>
      <a:accent2>
        <a:srgbClr val="D06B47"/>
      </a:accent2>
      <a:accent3>
        <a:srgbClr val="7297A7"/>
      </a:accent3>
      <a:accent4>
        <a:srgbClr val="D8A93E"/>
      </a:accent4>
      <a:accent5>
        <a:srgbClr val="7566A8"/>
      </a:accent5>
      <a:accent6>
        <a:srgbClr val="7A9854"/>
      </a:accent6>
      <a:hlink>
        <a:srgbClr val="0563C1"/>
      </a:hlink>
      <a:folHlink>
        <a:srgbClr val="954F72"/>
      </a:folHlink>
    </a:clrScheme>
    <a:fontScheme name="Vector180 Canary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Vector180 Canary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7620">
          <a:solidFill>
            <a:schemeClr val="phClr"/>
          </a:solidFill>
        </a:ln>
        <a:ln w="15240">
          <a:solidFill>
            <a:schemeClr val="phClr"/>
          </a:solidFill>
        </a:ln>
        <a:ln w="2286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office180 Vector180</Application>
  <PresentationFormat>On-screen Show (16:9)</PresentationFormat>
  <Slides>1</Slides>
  <Notes>0</Notes>
  <HiddenSlides>0</HiddenSlides>
  <MMClips>0</MMClips>
  <ScaleCrop>false</ScaleCrop>
  <TitlesOfParts>
    <vt:vector size="1" baseType="lpstr">
      <vt:lpstr>supported-roundtrip</vt:lpstr>
    </vt:vector>
  </TitlesOfParts>
  <Company>Office180</Company>
  <AppVersion>0.1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Vector180 baseline: roundtrip</dc:title>
  <dc:creator>office180</dc:creator>
  <cp:lastModifiedBy>office180</cp:lastModifiedBy>
  <dcterms:created xsi:type="dcterms:W3CDTF">2000-01-01T00:00:00Z</dcterms:created>
  <dcterms:modified xsi:type="dcterms:W3CDTF">2000-01-01T00:00:00Z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ctor180.compiler">
    <vt:lpwstr>office180-vector180-pptx-baseline/0.1</vt:lpwstr>
  </property>
  <property fmtid="{D5CDD505-2E9C-101B-9397-08002B2CF9AE}" pid="3" name="vector180.resolvedSchema">
    <vt:lpwstr>vector180-resolved-deck/0.1</vt:lpwstr>
  </property>
  <property fmtid="{D5CDD505-2E9C-101B-9397-08002B2CF9AE}" pid="4" name="vector180.activeTheme">
    <vt:lpwstr>diagram-local</vt:lpwstr>
  </property>
  <property fmtid="{D5CDD505-2E9C-101B-9397-08002B2CF9AE}" pid="5" name="vector180.sourceSha256">
    <vt:lpwstr>3dd130d50a3fc7c0c5a202c7fdc8cce4dbcb147cc7287a1be84154c938c6ef9e</vt:lpwstr>
  </property>
  <property fmtid="{D5CDD505-2E9C-101B-9397-08002B2CF9AE}" pid="6" name="vector180.atomSha256">
    <vt:lpwstr>3bf18821484c9844da740b31f46ffb4cf72fb52802bb55fb97b8bdcbc58f46fc</vt:lpwstr>
  </property>
  <property fmtid="{D5CDD505-2E9C-101B-9397-08002B2CF9AE}" pid="7" name="vector180.mapSchema">
    <vt:lpwstr>vector180-pptx-map/0.1</vt:lpwstr>
  </property>
  <property fmtid="{D5CDD505-2E9C-101B-9397-08002B2CF9AE}" pid="8" name="vector180.placement">
    <vt:lpwstr>["supported-roundtrip","uniform-scale-translate",200,0,1200,900]</vt:lpwstr>
  </property>
  <property fmtid="{D5CDD505-2E9C-101B-9397-08002B2CF9AE}" pid="9" name="vector180.sourceId">
    <vt:lpwstr>roundtrip</vt:lpwstr>
  </property>
  <property fmtid="{D5CDD505-2E9C-101B-9397-08002B2CF9AE}" pid="10" name="vector180.sourceKind">
    <vt:lpwstr>atom</vt:lpwstr>
  </property>
  <property fmtid="{D5CDD505-2E9C-101B-9397-08002B2CF9AE}" pid="11" name="vector180.sourceResolvedSchema">
    <vt:lpwstr>vector180-resolved-atom/0.1</vt:lpwstr>
  </property>
</Properties>
</file>